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Университет 2035 — Оргструктура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Приказ №260617-1 от 17 июня 2026 г.</a:t>
            </a:r>
          </a:p>
          <a:p>
            <a:pPr>
              <a:spcAft>
                <a:spcPts val="600"/>
              </a:spcAft>
              <a:defRPr sz="1800"/>
            </a:pPr>
            <a:r>
              <a:t>Об утверждении организационной структуры</a:t>
            </a:r>
          </a:p>
          <a:p>
            <a:pPr>
              <a:spcAft>
                <a:spcPts val="600"/>
              </a:spcAft>
              <a:defRPr sz="1800"/>
            </a:pPr>
            <a:r>
              <a:t>Ректор: Д.В. Кайсин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Ключевые изменения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Утверждена новая организационная структура</a:t>
            </a:r>
          </a:p>
          <a:p>
            <a:pPr>
              <a:spcAft>
                <a:spcPts val="600"/>
              </a:spcAft>
              <a:defRPr sz="1800"/>
            </a:pPr>
            <a:r>
              <a:t>• Признан утратившим силу приказ от 24.04.2026 №260424-1</a:t>
            </a:r>
          </a:p>
          <a:p>
            <a:pPr>
              <a:spcAft>
                <a:spcPts val="600"/>
              </a:spcAft>
              <a:defRPr sz="1800"/>
            </a:pPr>
            <a:r>
              <a:t>• Утверждено положение о Лаборатории искусственного интеллекта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Блок ректора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Ректор</a:t>
            </a:r>
          </a:p>
          <a:p>
            <a:pPr>
              <a:spcAft>
                <a:spcPts val="600"/>
              </a:spcAft>
              <a:defRPr sz="1800"/>
            </a:pPr>
            <a:r>
              <a:t>├── Первый заместитель ректора</a:t>
            </a:r>
          </a:p>
          <a:p>
            <a:pPr>
              <a:spcAft>
                <a:spcPts val="600"/>
              </a:spcAft>
              <a:defRPr sz="1800"/>
            </a:pPr>
            <a:r>
              <a:t>│   ├── Департамент безопасности</a:t>
            </a:r>
          </a:p>
          <a:p>
            <a:pPr>
              <a:spcAft>
                <a:spcPts val="600"/>
              </a:spcAft>
              <a:defRPr sz="1800"/>
            </a:pPr>
            <a:r>
              <a:t>│   ├── Пресс-центр</a:t>
            </a:r>
          </a:p>
          <a:p>
            <a:pPr>
              <a:spcAft>
                <a:spcPts val="600"/>
              </a:spcAft>
              <a:defRPr sz="1800"/>
            </a:pPr>
            <a:r>
              <a:t>│   ├── Департамент маркетинга и коммуникаций</a:t>
            </a:r>
          </a:p>
          <a:p>
            <a:pPr>
              <a:spcAft>
                <a:spcPts val="600"/>
              </a:spcAft>
              <a:defRPr sz="1800"/>
            </a:pPr>
            <a:r>
              <a:t>│   └── Лаборатория искусственного интеллекта</a:t>
            </a:r>
          </a:p>
          <a:p>
            <a:pPr>
              <a:spcAft>
                <a:spcPts val="600"/>
              </a:spcAft>
              <a:defRPr sz="1800"/>
            </a:pPr>
            <a:r>
              <a:t>├── Заместитель ректора по развитию</a:t>
            </a:r>
          </a:p>
          <a:p>
            <a:pPr>
              <a:spcAft>
                <a:spcPts val="600"/>
              </a:spcAft>
              <a:defRPr sz="1800"/>
            </a:pPr>
            <a:r>
              <a:t>│   ├── Департамент технологического развития</a:t>
            </a:r>
          </a:p>
          <a:p>
            <a:pPr>
              <a:spcAft>
                <a:spcPts val="600"/>
              </a:spcAft>
              <a:defRPr sz="1800"/>
            </a:pPr>
            <a:r>
              <a:t>│   ├── Департамент развития платформы</a:t>
            </a:r>
          </a:p>
          <a:p>
            <a:pPr>
              <a:spcAft>
                <a:spcPts val="600"/>
              </a:spcAft>
              <a:defRPr sz="1800"/>
            </a:pPr>
            <a:r>
              <a:t>│   └── Центр компетенций по БАС</a:t>
            </a:r>
          </a:p>
          <a:p>
            <a:pPr>
              <a:spcAft>
                <a:spcPts val="600"/>
              </a:spcAft>
              <a:defRPr sz="1800"/>
            </a:pPr>
            <a:r>
              <a:t>└── Служба информационных технологий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Функциональные департаменты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Департамент по методологии и планированию</a:t>
            </a:r>
          </a:p>
          <a:p>
            <a:pPr>
              <a:spcAft>
                <a:spcPts val="600"/>
              </a:spcAft>
              <a:defRPr sz="1800"/>
            </a:pPr>
            <a:r>
              <a:t>• Департамент корпоративного управления</a:t>
            </a:r>
          </a:p>
          <a:p>
            <a:pPr>
              <a:spcAft>
                <a:spcPts val="600"/>
              </a:spcAft>
              <a:defRPr sz="1800"/>
            </a:pPr>
            <a:r>
              <a:t>• Финансовая служба</a:t>
            </a:r>
          </a:p>
          <a:p>
            <a:pPr>
              <a:spcAft>
                <a:spcPts val="600"/>
              </a:spcAft>
              <a:defRPr sz="1800"/>
            </a:pPr>
            <a:r>
              <a:t>• Департамент по ОРУПиКК</a:t>
            </a:r>
          </a:p>
          <a:p>
            <a:pPr>
              <a:spcAft>
                <a:spcPts val="600"/>
              </a:spcAft>
              <a:defRPr sz="1800"/>
            </a:pPr>
            <a:r>
              <a:t>• Департамент внутреннего аудита</a:t>
            </a:r>
          </a:p>
          <a:p>
            <a:pPr>
              <a:spcAft>
                <a:spcPts val="600"/>
              </a:spcAft>
              <a:defRPr sz="1800"/>
            </a:pPr>
            <a:r>
              <a:t>• Департамент по правовым вопросам</a:t>
            </a:r>
          </a:p>
          <a:p>
            <a:pPr>
              <a:spcAft>
                <a:spcPts val="600"/>
              </a:spcAft>
              <a:defRPr sz="1800"/>
            </a:pPr>
            <a:r>
              <a:t>• Департамент документооборота и секретариата</a:t>
            </a:r>
          </a:p>
          <a:p>
            <a:pPr>
              <a:spcAft>
                <a:spcPts val="600"/>
              </a:spcAft>
              <a:defRPr sz="1800"/>
            </a:pPr>
            <a:r>
              <a:t>• Департамент по АХД</a:t>
            </a:r>
          </a:p>
          <a:p>
            <a:pPr>
              <a:spcAft>
                <a:spcPts val="600"/>
              </a:spcAft>
              <a:defRPr sz="1800"/>
            </a:pPr>
            <a:r>
              <a:t>• Отдел закупок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Лаборатория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НОВОЕ ПОДРАЗДЕЛЕНИЕ</a:t>
            </a:r>
          </a:p>
          <a:p>
            <a:pPr>
              <a:spcAft>
                <a:spcPts val="600"/>
              </a:spcAft>
              <a:defRPr sz="1800"/>
            </a:pPr>
            <a:r>
              <a:t>• Создана в рамках новой оргструктуры</a:t>
            </a:r>
          </a:p>
          <a:p>
            <a:pPr>
              <a:spcAft>
                <a:spcPts val="600"/>
              </a:spcAft>
              <a:defRPr sz="1800"/>
            </a:pPr>
            <a:r>
              <a:t>• Директору департамента ОРУПиКК Гудач Ю.В. поручено утвердить положение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ФП Кадры для ЦТ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Отдельный департамент в структуре</a:t>
            </a:r>
          </a:p>
          <a:p>
            <a:pPr>
              <a:spcAft>
                <a:spcPts val="600"/>
              </a:spcAft>
              <a:defRPr sz="1800"/>
            </a:pPr>
            <a:r>
              <a:t>• Реализует федеральный проект</a:t>
            </a:r>
          </a:p>
          <a:p>
            <a:pPr>
              <a:spcAft>
                <a:spcPts val="600"/>
              </a:spcAft>
              <a:defRPr sz="1800"/>
            </a:pPr>
            <a:r>
              <a:t>• Отчитывается напрямую ректору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Контроль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Контроль — ректор Д.В. Кайсин</a:t>
            </a:r>
          </a:p>
          <a:p>
            <a:pPr>
              <a:spcAft>
                <a:spcPts val="600"/>
              </a:spcAft>
              <a:defRPr sz="1800"/>
            </a:pPr>
            <a:r>
              <a:t>• Ознакомление — корпоративная почта (Кочкурова Е.В.)</a:t>
            </a:r>
          </a:p>
          <a:p>
            <a:pPr>
              <a:spcAft>
                <a:spcPts val="600"/>
              </a:spcAft>
              <a:defRPr sz="1800"/>
            </a:pPr>
            <a:r>
              <a:t>• Вступает в силу с 17 июня 2026 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